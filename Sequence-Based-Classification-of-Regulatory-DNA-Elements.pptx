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2811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Sequence-Based Classification of Regulatory DNA Elements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9460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comparative study of 1D-CNN and SVM for classifying genomic sequences into Enhancers, Promoters, and Intergenic regions using nucleotide sequence only.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8384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Omri Schlesinger, Nadav Idelson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5479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4961930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196364"/>
            <a:ext cx="3004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Biological Complexity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686782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Non‑TATA promoters dominate and are marked by broad CpG regions and motifs (Sp1, NRF‑1). Enhancers show high heterogeneity and spatial flexibility.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4961930"/>
            <a:ext cx="6408063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62982" y="51963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Computational Goal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2982" y="5686782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sequences into Enhancer / Promoter / Intergenic from raw nucleotides, capturing both local composition and long-range motif context.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25409"/>
            <a:ext cx="54441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&amp; Preprocessing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513254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balanced the dataset via targeted downsampling from 234,783 sequences to 108,393 total (36,131 per class). Split: 70% train / 15% validation / 15% test.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11350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Fixed-length sequences: post-pad to 452 bp using 'N' (covers ~95% of sequences). Encoding: one-hot (A,C,G,T,N) for deep models; k-mer counts for SVM.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311354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3082885"/>
            <a:ext cx="462795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Baseline: k-mer SVM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3876675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Representation: CountVectorizer extracting k‑mer frequencies (Bag‑of‑Words). Limited to local composition; no explicit positional context.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559981" y="4806553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search with Optuna. Selected configuration: k=5, C ≈ 0.001.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6695" y="751999"/>
            <a:ext cx="465689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1D-CNN: Biology‑aware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31544" y="1255395"/>
            <a:ext cx="107561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378" y="1272183"/>
            <a:ext cx="4938355" cy="26958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06075" y="1255395"/>
            <a:ext cx="1307663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831544" y="4135398"/>
            <a:ext cx="129897" cy="779740"/>
          </a:xfrm>
          <a:prstGeom prst="roundRect">
            <a:avLst>
              <a:gd name="adj" fmla="val 420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35856" y="4265295"/>
            <a:ext cx="1624489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35856" y="4512945"/>
            <a:ext cx="876288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One‑hot encoding (5 channels: A,C,G,T,N).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26450" y="4989552"/>
            <a:ext cx="129897" cy="779740"/>
          </a:xfrm>
          <a:prstGeom prst="roundRect">
            <a:avLst>
              <a:gd name="adj" fmla="val 420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30761" y="5119449"/>
            <a:ext cx="191095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Convolutional Hierarchy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30761" y="5367099"/>
            <a:ext cx="8567976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conv blocks with kernel sizes 12, 8, 6 bp to emulate PWM scanning and capture motif interactions at multiple scales.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21355" y="5843707"/>
            <a:ext cx="129897" cy="779740"/>
          </a:xfrm>
          <a:prstGeom prst="roundRect">
            <a:avLst>
              <a:gd name="adj" fmla="val 420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5666" y="5973604"/>
            <a:ext cx="199989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Aggregation &amp; Invariance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25666" y="6221254"/>
            <a:ext cx="8373070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Average Pooling reduces sensitivity to absolute position and padding artifacts.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16260" y="6697861"/>
            <a:ext cx="129897" cy="779740"/>
          </a:xfrm>
          <a:prstGeom prst="roundRect">
            <a:avLst>
              <a:gd name="adj" fmla="val 420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20572" y="6827758"/>
            <a:ext cx="194357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Biological Augmentation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20572" y="7075408"/>
            <a:ext cx="8178165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 complement augmentation with 50% probability during training to avoid strand bias and increase data diversity.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79151"/>
            <a:ext cx="8284131" cy="41043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138624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9638943" y="1654135"/>
            <a:ext cx="420516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Protocol &amp; Regularization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9638943" y="3014901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5‑fold stratified CV for robustness (observed SD ≈ 0.002). Early stopping and ReduceLROnPlateau used for learning control.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670584"/>
            <a:ext cx="4205168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Dropout (20–30%)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+ L2 weight regularization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Normalization between conv layers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Gaussian noise on input channel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280398"/>
            <a:ext cx="8279130" cy="31615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697135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9638943" y="1284923"/>
            <a:ext cx="420516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— Model Comparison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9638943" y="264568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1D‑CNN outperforms SVM: relative accuracy improvement +26.28%.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3575566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 CNN captures spatial motif syntax (e.g., CpG islands, motif co-occurrence) beyond k‑mer frequency statistics.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51926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575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SVM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624411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Accuracy: 72.24%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551926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62982" y="575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1D‑CNN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62982" y="6244114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Accuracy: 91.22% — Promoter recall = 1.000 (perfect identification of promoter signatures).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3669"/>
            <a:ext cx="478143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Interpretability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54273"/>
            <a:ext cx="1403509" cy="8673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80786" y="2754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Saliency Maps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480786" y="3244691"/>
            <a:ext cx="469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Gradient-based maps consistently highlight GC-rich stretches and motif clusters correlated with promoter decisions.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754273"/>
            <a:ext cx="1403509" cy="8673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3881" y="2754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Filter Visualizations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143881" y="3244691"/>
            <a:ext cx="46927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First-layer filters produce PWMs similar to known motifs (Sp1, ETS), indicating biologically meaningful feature learning.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588550"/>
            <a:ext cx="13042583" cy="19073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385" y="474464"/>
            <a:ext cx="9919692" cy="72805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311354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262366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3417451"/>
            <a:ext cx="8284131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Location‑sensitive hierarchical representations (1D‑CNN) significantly outperform k‑mer SVM for regulatory element classification.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Biologically motivated design choices (kernel sizes, RC augmentation) and rigorous regularization produce strong generalization.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Interpretability analyses confirm learned features correspond to known biological motifs and CpG signals.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2026-02-24T19:13:38Z</dcterms:created>
  <dcterms:modified xsi:type="dcterms:W3CDTF">2026-02-24T19:13:38Z</dcterms:modified>
</cp:coreProperties>
</file>